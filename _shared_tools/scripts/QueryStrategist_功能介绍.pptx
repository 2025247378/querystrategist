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53328"/>
            <a:ext cx="12191695" cy="10972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QueryStrategist</a:t>
            </a:r>
          </a:p>
          <a:p>
            <a:pPr algn="ctr"/>
            <a:r>
              <a:rPr sz="2600" b="1">
                <a:solidFill>
                  <a:srgbClr val="CFDDEC"/>
                </a:solidFill>
                <a:latin typeface="微软雅黑"/>
                <a:ea typeface="微软雅黑"/>
              </a:rPr>
              <a:t>Step 0–2 人机协作 · 智能文献检索策略生成器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8D8C8"/>
                </a:solidFill>
                <a:latin typeface="微软雅黑"/>
                <a:ea typeface="微软雅黑"/>
              </a:rPr>
              <a:t>一句话模糊科研意图 → 6 大数据库精准检索式 + 文献候选清单，即拿即用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8C8D8"/>
                </a:solidFill>
                <a:latin typeface="微软雅黑"/>
                <a:ea typeface="微软雅黑"/>
              </a:rPr>
              <a:t>面向综述 · 研究论著 · 学位论文 · 开题报告 · 基金申请 · 调研报告   |   SCP 广场参赛作品   |  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为什么需要 QueryStrategist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把文献检索的「策略设计」，封装为可被复用、可追溯的标准化能力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检索起步难：从“我想研究 X 在 Y 中的应用”到可执行的高级检索式，跨度大、靠人工拼关键词易漏易滥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跨库构建重复：WoS / Scopus / IEEE / Google Scholar / CNKI / 万方语法各异，逐库构建耗时数天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策略缺依据：候选文献常凭经验筛，缺少跨库收割的量化覆盖与 OA 状态佐证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价值主张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将检索策略前期工作封装为 1 个主 Skill + 11 个子模块，可独立调用也可串联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人类掌舵、AI 执行：AI 规模化执行（关键词收敛、检索式生成、跨库收割），人类在决策门拍板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最终交付检索策略包四件套：范围卡 + 6 库检索式 + 候选清单 + 使用说明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方案总览：状态机驱动的 3 步（Step 0–2）流水线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单入口触发 · 全局上下文继承 · 决策门强制人工确认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单入口触发：用户输入“开始文献检索”，状态机顺序串联 3 个子 Skill（Step 0–2）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全局 Pipeline Context 跨步继承，避免重复劳动、保持上下文连续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3 个决策门（G0–G2）强制人工确认，AI 不越权做价值判断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2E7D8B"/>
                </a:solidFill>
                <a:latin typeface="微软雅黑"/>
                <a:ea typeface="微软雅黑"/>
              </a:rPr>
              <a:t>•  双通道检索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Search A：手工检索式（6 大库：WoS / Scopus / IEEE / Google Scholar / CNKI / 万方，每库查全式 A + 查准式 B）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Search B：API 自动收割（OpenAlex 收割 + Crossref 按 DOI 验证）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按写作类型调策略权重：综述查全 / 论著查准 / 开题基金新颖性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3 步流水线：从配置到检索策略包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每一步结束设决策门，AI 呈现事实、人类拍板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047" y="1600200"/>
            <a:ext cx="3291840" cy="1737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DDEC"/>
                </a:solidFill>
                <a:latin typeface="微软雅黑"/>
                <a:ea typeface="微软雅黑"/>
              </a:rPr>
              <a:t>STEP 0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预检配置</a:t>
            </a:r>
          </a:p>
          <a:p>
            <a:pPr algn="ctr"/>
            <a:r>
              <a:rPr sz="1000" b="0">
                <a:solidFill>
                  <a:srgbClr val="DDE7F0"/>
                </a:solidFill>
                <a:latin typeface="微软雅黑"/>
                <a:ea typeface="微软雅黑"/>
              </a:rPr>
              <a:t>Setup Wizard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1600200"/>
            <a:ext cx="3291840" cy="17373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DDEC"/>
                </a:solidFill>
                <a:latin typeface="微软雅黑"/>
                <a:ea typeface="微软雅黑"/>
              </a:rPr>
              <a:t>STEP 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范围界定</a:t>
            </a:r>
          </a:p>
          <a:p>
            <a:pPr algn="ctr"/>
            <a:r>
              <a:rPr sz="1000" b="0">
                <a:solidFill>
                  <a:srgbClr val="DDE7F0"/>
                </a:solidFill>
                <a:latin typeface="微软雅黑"/>
                <a:ea typeface="微软雅黑"/>
              </a:rPr>
              <a:t>Scope Definer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1807" y="1600200"/>
            <a:ext cx="3291840" cy="1737360"/>
          </a:xfrm>
          <a:prstGeom prst="roundRect">
            <a:avLst/>
          </a:prstGeom>
          <a:solidFill>
            <a:srgbClr val="E8833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DDEC"/>
                </a:solidFill>
                <a:latin typeface="微软雅黑"/>
                <a:ea typeface="微软雅黑"/>
              </a:rPr>
              <a:t>STEP 2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双通道检索</a:t>
            </a:r>
          </a:p>
          <a:p>
            <a:pPr algn="ctr"/>
            <a:r>
              <a:rPr sz="1000" b="0">
                <a:solidFill>
                  <a:srgbClr val="DDE7F0"/>
                </a:solidFill>
                <a:latin typeface="微软雅黑"/>
                <a:ea typeface="微软雅黑"/>
              </a:rPr>
              <a:t>Search Strategist 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11155680" cy="1554480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B7683"/>
                </a:solidFill>
                <a:latin typeface="微软雅黑"/>
                <a:ea typeface="微软雅黑"/>
              </a:rPr>
              <a:t>终点交付：检索策略包四件套（范围卡 + 6 库检索式 + 文献候选清单 + 使用说明）
检索式按写作类型调权重（查全 A / 查准 B / 新颖性）
候选清单含 OA 状态与 DOI 链接，人机闸门 G2 确认后交付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核心能力：已实装可运行脚本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超越纯提示词——关键机械化环节已封装为 Python，开箱即用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检索式生成  query_generator.py（零依赖）— 6 大库高级检索式一键产出（broad / precise / angle_tech / angle_app / review）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文献收割  harvest.py — OpenAlex / Crossref，含配额守卫（预算 / 429 熔断 / 缓存 / dry-run）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工具安装  ensure_tool.py — 开源工具检测/隔离安装（镜像直连，绕过 venv 回滚）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策略包模板  search_strategy_pack_template.md — 范围卡 / 检索式合集 / 候选清单 / 使用说明标准结构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技术实现与工具链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零外部模型依赖 · 直接引用不改写 · 全链路可追溯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收割：OpenAlex / Crossref 公开 API（网络；Crossref 仅按 DOI 做一致性验证）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质量参考：SJR 期刊分级（CC BY-NC 4.0，用户自行下载，不随仓库分发）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导出：openpyxl（MIT）文档与表格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检索式：6 平台高级检索语法（WoS / Scopus / IEEE / Google Scholar / CNKI / 万方）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设计原则：Step 0–2 零外部模型，仅用内置 LLM；检索式与候选清单全链路绑定上游出处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463040"/>
            <a:ext cx="3749039" cy="4206240"/>
          </a:xfrm>
          <a:prstGeom prst="roundRect">
            <a:avLst/>
          </a:prstGeom>
          <a:solidFill>
            <a:srgbClr val="E3E9F0"/>
          </a:solidFill>
          <a:ln w="1270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6B7683"/>
                </a:solidFill>
                <a:latin typeface="微软雅黑"/>
                <a:ea typeface="微软雅黑"/>
              </a:rPr>
              <a:t>演示截图位
（建议放置：检索策略包交付界面
或某库检索式输出，如 scope_card）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创新与差异化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为什么它不是又一个“检索工具”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铁律约束：“收割 ≠ 语料”——AI 呈现候选清单，下载决策权完全在用户，杜绝编造引用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决策门强制人工确认（G0–G2），杜绝 AI 越权替人类决定纳入哪些文献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按写作类型调检索策略权重（综述查全 / 论著查准 / 开题基金新颖性）——比数据库自带 Query Builder 强的核心差异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可追溯证据链：检索策略包每个字段标注上游出处（范围卡 = 检索式依据 = 候选清单口径）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零外部模型依赖（Step 0–2 仅内置 LLM），开箱即用、易部署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1 个主 Skill + 11 个子模块完全自包含，含可运行 scripts/，可整体也可单步使用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应用场景与落地路径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从科研到教学，覆盖六类文献写作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综述 / 系统综述：查全优先，宽式 A 为主，近 10 年时间窗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研究论著 / 实验研究：查准优先，精准式 B 为主，近 5 年时间窗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学位论文：查全+查准均衡，A+B 并重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开题报告 / 基金申请：兼顾新颖性，近 2 年过滤 + 高被引标注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调研报告：查全+查准均衡，A 起步可调窄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2E7D8B"/>
                </a:solidFill>
                <a:latin typeface="微软雅黑"/>
                <a:ea typeface="微软雅黑"/>
              </a:rPr>
              <a:t>•  落地方式：上架 SCP 广场，用户一句话触发完整 0–2 流水线，产出检索策略包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知识产权与合规</a:t>
            </a:r>
          </a:p>
          <a:p>
            <a:r>
              <a:rPr sz="1300" b="0">
                <a:solidFill>
                  <a:srgbClr val="CFDDEC"/>
                </a:solidFill>
                <a:latin typeface="微软雅黑"/>
                <a:ea typeface="微软雅黑"/>
              </a:rPr>
              <a:t>开源可复用 · 第三方数据合规解耦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683"/>
                </a:solidFill>
                <a:latin typeface="微软雅黑"/>
                <a:ea typeface="微软雅黑"/>
              </a:rPr>
              <a:t>QueryStrategist · SCP 广场参赛作品（Step 0–2）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源码 MIT 开源，允许学习、修改、再分发（见 LICENSE）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SJR 期刊质量数据集为 CC BY-NC 4.0（不可商用），不随仓库分发，用户自行下载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222A33"/>
                </a:solidFill>
                <a:latin typeface="微软雅黑"/>
                <a:ea typeface="微软雅黑"/>
              </a:rPr>
              <a:t>•  1 个主 Skill + 11 个子模块完全自包含，目录遵循统一资源布局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8833A"/>
                </a:solidFill>
                <a:latin typeface="微软雅黑"/>
                <a:ea typeface="微软雅黑"/>
              </a:rPr>
              <a:t>•  参赛亮点（面向专家评审）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完整可运行：4 个脚本化能力 + 双通道检索 + 策略包四件套模板，非纯提示词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方法学严谨：决策门 + 上游上下文继承 + 证据链，降低 AI 幻觉与越权</a:t>
            </a:r>
          </a:p>
          <a:p>
            <a:pPr lvl="1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A33"/>
                </a:solidFill>
                <a:latin typeface="微软雅黑"/>
                <a:ea typeface="微软雅黑"/>
              </a:rPr>
              <a:t>–  六类写作类型适配 + 6 平台检索式生成：覆盖多种科研写作场景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即刻体验 QueryStrategist</a:t>
            </a:r>
          </a:p>
          <a:p>
            <a:pPr algn="ctr"/>
            <a:r>
              <a:rPr sz="1800" b="0">
                <a:solidFill>
                  <a:srgbClr val="CFDDEC"/>
                </a:solidFill>
                <a:latin typeface="微软雅黑"/>
                <a:ea typeface="微软雅黑"/>
              </a:rPr>
              <a:t>SCP 广场搜索 “QueryStrategist”，一句话开启你的检索策略生成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E8D8C8"/>
                </a:solidFill>
                <a:latin typeface="微软雅黑"/>
                <a:ea typeface="微软雅黑"/>
              </a:rPr>
              <a:t>感谢书生科学发现平台 · 期待你的收藏与反馈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